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7868"/>
          </a:solidFill>
          <a:ln w="12700">
            <a:solidFill>
              <a:srgbClr val="2A78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A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COGS 160 · Spring 2026 · AI Methodology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With AI: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E88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Research Workflow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8C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thirty-five years of research practice teaches you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8C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directing an AI collaborator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794760"/>
            <a:ext cx="5303520" cy="54864"/>
          </a:xfrm>
          <a:prstGeom prst="rect">
            <a:avLst/>
          </a:prstGeom>
          <a:solidFill>
            <a:srgbClr val="2A7868"/>
          </a:solidFill>
          <a:ln w="12700">
            <a:solidFill>
              <a:srgbClr val="2A78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A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Kirsh  ·  Professor of Cognitive Science  ·  UCSD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251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Formerly: MIT AI Lab · Research Faculty, 1980–1989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D3A"/>
          </a:solidFill>
          <a:ln w="12700">
            <a:solidFill>
              <a:srgbClr val="1C3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students use 10% of AI's power because they have the wrong mental model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3749040" cy="3566160"/>
          </a:xfrm>
          <a:prstGeom prst="rect">
            <a:avLst/>
          </a:prstGeom>
          <a:solidFill>
            <a:srgbClr val="FDE8D8"/>
          </a:solidFill>
          <a:ln w="19050">
            <a:solidFill>
              <a:srgbClr val="C96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6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Student Mental Model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01168" cy="201168"/>
          </a:xfrm>
          <a:prstGeom prst="ellipse">
            <a:avLst/>
          </a:prstGeom>
          <a:solidFill>
            <a:srgbClr val="C96020"/>
          </a:solidFill>
          <a:ln w="12700">
            <a:solidFill>
              <a:srgbClr val="C96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64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2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engine for answers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201168" cy="201168"/>
          </a:xfrm>
          <a:prstGeom prst="ellipse">
            <a:avLst/>
          </a:prstGeom>
          <a:solidFill>
            <a:srgbClr val="C96020"/>
          </a:solidFill>
          <a:ln w="12700">
            <a:solidFill>
              <a:srgbClr val="C96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317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2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autocomplete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16936"/>
            <a:ext cx="201168" cy="201168"/>
          </a:xfrm>
          <a:prstGeom prst="ellipse">
            <a:avLst/>
          </a:prstGeom>
          <a:solidFill>
            <a:srgbClr val="C96020"/>
          </a:solidFill>
          <a:ln w="12700">
            <a:solidFill>
              <a:srgbClr val="C96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98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2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 helper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201168" cy="201168"/>
          </a:xfrm>
          <a:prstGeom prst="ellipse">
            <a:avLst/>
          </a:prstGeom>
          <a:solidFill>
            <a:srgbClr val="C96020"/>
          </a:solidFill>
          <a:ln w="12700">
            <a:solidFill>
              <a:srgbClr val="C96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4655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2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One-shot question → answer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50792"/>
            <a:ext cx="201168" cy="201168"/>
          </a:xfrm>
          <a:prstGeom prst="ellipse">
            <a:avLst/>
          </a:prstGeom>
          <a:solidFill>
            <a:srgbClr val="C96020"/>
          </a:solidFill>
          <a:ln w="12700">
            <a:solidFill>
              <a:srgbClr val="C96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325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2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tool that responds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83480" y="1188720"/>
            <a:ext cx="3749040" cy="3566160"/>
          </a:xfrm>
          <a:prstGeom prst="rect">
            <a:avLst/>
          </a:prstGeom>
          <a:solidFill>
            <a:srgbClr val="E0F2EC"/>
          </a:solidFill>
          <a:ln w="19050">
            <a:solidFill>
              <a:srgbClr val="2A78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Expert Mental Model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20640" y="1783080"/>
            <a:ext cx="201168" cy="201168"/>
          </a:xfrm>
          <a:prstGeom prst="ellipse">
            <a:avLst/>
          </a:prstGeom>
          <a:solidFill>
            <a:srgbClr val="2A7868"/>
          </a:solidFill>
          <a:ln w="12700">
            <a:solidFill>
              <a:srgbClr val="2A78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1764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3D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collaborator you direct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20640" y="2350008"/>
            <a:ext cx="201168" cy="201168"/>
          </a:xfrm>
          <a:prstGeom prst="ellipse">
            <a:avLst/>
          </a:prstGeom>
          <a:solidFill>
            <a:srgbClr val="2A7868"/>
          </a:solidFill>
          <a:ln w="12700">
            <a:solidFill>
              <a:srgbClr val="2A78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23317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3D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 consultant before you build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20640" y="2916936"/>
            <a:ext cx="201168" cy="201168"/>
          </a:xfrm>
          <a:prstGeom prst="ellipse">
            <a:avLst/>
          </a:prstGeom>
          <a:solidFill>
            <a:srgbClr val="2A7868"/>
          </a:solidFill>
          <a:ln w="12700">
            <a:solidFill>
              <a:srgbClr val="2A78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2898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3D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critic on demand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20640" y="3483864"/>
            <a:ext cx="201168" cy="201168"/>
          </a:xfrm>
          <a:prstGeom prst="ellipse">
            <a:avLst/>
          </a:prstGeom>
          <a:solidFill>
            <a:srgbClr val="2A7868"/>
          </a:solidFill>
          <a:ln w="12700">
            <a:solidFill>
              <a:srgbClr val="2A78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34655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3D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auditor and harener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120640" y="4050792"/>
            <a:ext cx="201168" cy="201168"/>
          </a:xfrm>
          <a:prstGeom prst="ellipse">
            <a:avLst/>
          </a:prstGeom>
          <a:solidFill>
            <a:srgbClr val="2A7868"/>
          </a:solidFill>
          <a:ln w="12700">
            <a:solidFill>
              <a:srgbClr val="2A78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40325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3D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you compose with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60520" y="26060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A5E50"/>
                </a:solidFill>
              </a:rPr>
              <a:t>Source: 35 years of research practice and 5 years at the MIT AI Lab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D3A"/>
          </a:solidFill>
          <a:ln w="12700">
            <a:solidFill>
              <a:srgbClr val="1C3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 AI use follows a seven-phase cycle — not a single prompt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19659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3D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70432"/>
            <a:ext cx="1965960" cy="320040"/>
          </a:xfrm>
          <a:prstGeom prst="rect">
            <a:avLst/>
          </a:prstGeom>
          <a:solidFill>
            <a:srgbClr val="1C3D3A"/>
          </a:solidFill>
          <a:ln w="12700">
            <a:solidFill>
              <a:srgbClr val="1C3D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207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2161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81912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real time on this.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exactly do you need?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60320" y="1170432"/>
            <a:ext cx="19659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A78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170432"/>
            <a:ext cx="1965960" cy="320040"/>
          </a:xfrm>
          <a:prstGeom prst="rect">
            <a:avLst/>
          </a:prstGeom>
          <a:solidFill>
            <a:srgbClr val="2A7868"/>
          </a:solidFill>
          <a:ln w="12700">
            <a:solidFill>
              <a:srgbClr val="2A78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3472" y="1207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80360" y="12161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1581912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 to help you formulate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better before you build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1170432"/>
            <a:ext cx="19659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170432"/>
            <a:ext cx="1965960" cy="320040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1207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12161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1581912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AI to make it.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everything it produces.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0" y="1170432"/>
            <a:ext cx="19659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6B4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1170432"/>
            <a:ext cx="1965960" cy="320040"/>
          </a:xfrm>
          <a:prstGeom prst="rect">
            <a:avLst/>
          </a:prstGeom>
          <a:solidFill>
            <a:srgbClr val="6B4FA8"/>
          </a:solidFill>
          <a:ln w="12700">
            <a:solidFill>
              <a:srgbClr val="6B4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1207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78040" y="12161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0" y="1581912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 how to test it.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test it yourself.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1480" y="3044952"/>
            <a:ext cx="19659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A84F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044952"/>
            <a:ext cx="1965960" cy="320040"/>
          </a:xfrm>
          <a:prstGeom prst="rect">
            <a:avLst/>
          </a:prstGeom>
          <a:solidFill>
            <a:srgbClr val="A84F6B"/>
          </a:solidFill>
          <a:ln w="12700">
            <a:solidFill>
              <a:srgbClr val="A84F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3081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0906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3456432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AI to document it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move 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560320" y="3044952"/>
            <a:ext cx="19659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3A6E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0" y="3044952"/>
            <a:ext cx="1965960" cy="320040"/>
          </a:xfrm>
          <a:prstGeom prst="rect">
            <a:avLst/>
          </a:prstGeom>
          <a:solidFill>
            <a:srgbClr val="3A6EA8"/>
          </a:solidFill>
          <a:ln w="12700">
            <a:solidFill>
              <a:srgbClr val="3A6E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33472" y="3081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80360" y="30906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51760" y="3456432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Contracts, tests, spec entries,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monotonicity requirements.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09160" y="3044952"/>
            <a:ext cx="19659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6A5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044952"/>
            <a:ext cx="1965960" cy="320040"/>
          </a:xfrm>
          <a:prstGeom prst="rect">
            <a:avLst/>
          </a:prstGeom>
          <a:solidFill>
            <a:srgbClr val="6A5E50"/>
          </a:solidFill>
          <a:ln w="12700">
            <a:solidFill>
              <a:srgbClr val="6A5E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82312" y="3081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30906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3456432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in the master doc.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lose what you built.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A5E50"/>
                </a:solidFill>
              </a:rPr>
              <a:t>This cycle applies to every task — from a 20-minute prototype to a multi-week system build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D3A"/>
          </a:solidFill>
          <a:ln w="12700">
            <a:solidFill>
              <a:srgbClr val="1C3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survey the theory before implementation — ask AI to write you a theory document first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" y="1170432"/>
            <a:ext cx="2633472" cy="3749040"/>
          </a:xfrm>
          <a:prstGeom prst="rect">
            <a:avLst/>
          </a:prstGeom>
          <a:solidFill>
            <a:srgbClr val="E0F2EC"/>
          </a:solidFill>
          <a:ln w="19050">
            <a:solidFill>
              <a:srgbClr val="2A78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2064" y="1298448"/>
            <a:ext cx="438912" cy="438912"/>
          </a:xfrm>
          <a:prstGeom prst="ellipse">
            <a:avLst/>
          </a:prstGeom>
          <a:solidFill>
            <a:srgbClr val="2A7868"/>
          </a:solidFill>
          <a:ln w="12700">
            <a:solidFill>
              <a:srgbClr val="2A78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30759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8912" y="187452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7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 Survey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" y="2286000"/>
            <a:ext cx="245059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 to write a 10–20 page document on the relevant theoretical framework.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"Explain Quinean coherentism and epistemic defeat for a PhD-level audience. Cover the key theorists, the main debates, and the open questions."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26664" y="26060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27832" y="1170432"/>
            <a:ext cx="2633472" cy="3749040"/>
          </a:xfrm>
          <a:prstGeom prst="rect">
            <a:avLst/>
          </a:prstGeom>
          <a:solidFill>
            <a:srgbClr val="F0EBF8"/>
          </a:solidFill>
          <a:ln w="19050">
            <a:solidFill>
              <a:srgbClr val="6B4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92424" y="1298448"/>
            <a:ext cx="438912" cy="438912"/>
          </a:xfrm>
          <a:prstGeom prst="ellipse">
            <a:avLst/>
          </a:prstGeom>
          <a:solidFill>
            <a:srgbClr val="6B4FA8"/>
          </a:solidFill>
          <a:ln w="12700">
            <a:solidFill>
              <a:srgbClr val="6B4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2424" y="130759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19272" y="187452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4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Doc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19272" y="2286000"/>
            <a:ext cx="245059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theory doc as context, ask AI to propose a design that honors the theoretical constraints.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"Given Pollock's account of undercutting defeat, propose a warrant taxonomy for our evidence pipeline."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07024" y="26060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08192" y="1170432"/>
            <a:ext cx="2633472" cy="3749040"/>
          </a:xfrm>
          <a:prstGeom prst="rect">
            <a:avLst/>
          </a:prstGeom>
          <a:solidFill>
            <a:srgbClr val="FFF0CC"/>
          </a:solidFill>
          <a:ln w="19050">
            <a:solidFill>
              <a:srgbClr val="E88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2784" y="1298448"/>
            <a:ext cx="438912" cy="438912"/>
          </a:xfrm>
          <a:prstGeom prst="ellipse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130759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199632" y="187452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8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99632" y="2286000"/>
            <a:ext cx="245059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after theory and design are clear does coding begin — and then AI writes it, not you.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"Implement the warrant types we specified. Use the type hierarchy from the design doc."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A5E50"/>
                </a:solidFill>
              </a:rPr>
              <a:t>The theory document becomes a persistent context object — every subsequent prompt references it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dirty="0">
                <a:solidFill>
                  <a:srgbClr val="E88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Formulation is the hardest intellectual work.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8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the coding. Not the debugging. The formulation.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7863840" cy="36576"/>
          </a:xfrm>
          <a:prstGeom prst="rect">
            <a:avLst/>
          </a:prstGeom>
          <a:solidFill>
            <a:srgbClr val="2A7868"/>
          </a:solidFill>
          <a:ln w="12700">
            <a:solidFill>
              <a:srgbClr val="2A78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240280"/>
            <a:ext cx="73152" cy="685800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58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time on 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5694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0D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touching the AI, articulate what you actually need. Write it down in plain language. Notice where it is vague. Notice what you haven't decided yet.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154680"/>
            <a:ext cx="73152" cy="685800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72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 to improve 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4838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0D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your formulation and ask: 'Is this request well-specified? What am I implicitly assuming? What would make this more precise?' The AI often surfaces the thing you forgot.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069080"/>
            <a:ext cx="73152" cy="685800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87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tell it to build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43982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0D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when the formulation is tight does the build request go out. A vague request produces vague output. Precision in → precision out.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A5E50"/>
                </a:solidFill>
              </a:rPr>
              <a:t>— D. Kirsh,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D3A"/>
          </a:solidFill>
          <a:ln w="12700">
            <a:solidFill>
              <a:srgbClr val="1C3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accept generated output — read everything, validate systematically, offer ideas when AI is stuck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3657600" cy="3657600"/>
          </a:xfrm>
          <a:prstGeom prst="rect">
            <a:avLst/>
          </a:prstGeom>
          <a:solidFill>
            <a:srgbClr val="E0F2EC"/>
          </a:solidFill>
          <a:ln w="19050">
            <a:solidFill>
              <a:srgbClr val="2A78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258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78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Constant Reading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what AI is doing at every step.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This is not optional. When you stop reading the output, you stop directing the instrument — you become its passenger.
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AI gets stuck: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Offer a clever idea from your own understanding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Reframe the problem from a different angle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Ask it to explain why it chose the approach it did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Pull in theory: 'What would Pollock say here?'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74920" y="1188720"/>
            <a:ext cx="3657600" cy="3657600"/>
          </a:xfrm>
          <a:prstGeom prst="rect">
            <a:avLst/>
          </a:prstGeom>
          <a:solidFill>
            <a:srgbClr val="FFF0CC"/>
          </a:solidFill>
          <a:ln w="19050">
            <a:solidFill>
              <a:srgbClr val="E88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212080" y="13258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5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Protocol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212080" y="1783080"/>
            <a:ext cx="256032" cy="256032"/>
          </a:xfrm>
          <a:prstGeom prst="ellipse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79222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41264" y="1783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 how to validate 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41264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3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tests would tell us this is working correctly?"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0" y="2560320"/>
            <a:ext cx="256032" cy="256032"/>
          </a:xfrm>
          <a:prstGeom prst="ellipse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256946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41264" y="2560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adversarial cases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41264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3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"Give me 5 edge cases that would break this."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0" y="3337560"/>
            <a:ext cx="256032" cy="256032"/>
          </a:xfrm>
          <a:prstGeom prst="ellipse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334670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41264" y="33375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ruthless prompt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41264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3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"Critique this output as severely as you can."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12080" y="4114800"/>
            <a:ext cx="256032" cy="256032"/>
          </a:xfrm>
          <a:prstGeom prst="ellipse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412394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41264" y="4114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Decide, then move 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41264" y="4389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3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like it — now document it and harden it."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A5E50"/>
                </a:solidFill>
              </a:rPr>
              <a:t>The quality of your validation is the quality of your system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D3A"/>
          </a:solidFill>
          <a:ln w="12700">
            <a:solidFill>
              <a:srgbClr val="1C3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expert moves separate advanced AI partnership from novice use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2651760" cy="3749040"/>
          </a:xfrm>
          <a:prstGeom prst="rect">
            <a:avLst/>
          </a:prstGeom>
          <a:solidFill>
            <a:srgbClr val="F0EBF8"/>
          </a:solidFill>
          <a:ln w="19050">
            <a:solidFill>
              <a:srgbClr val="6B4F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15568"/>
            <a:ext cx="2651760" cy="475488"/>
          </a:xfrm>
          <a:prstGeom prst="rect">
            <a:avLst/>
          </a:prstGeom>
          <a:solidFill>
            <a:srgbClr val="6B4FA8"/>
          </a:solidFill>
          <a:ln w="12700">
            <a:solidFill>
              <a:srgbClr val="6B4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52144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Panel Consultation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682496"/>
            <a:ext cx="24505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Convene a simulated expert panel when you face a design decision. Ask what Norman, Shneiderman, Tufte, and Munzner would each say.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panel surfaces contradictions you cannot see from inside the problem.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3721608"/>
            <a:ext cx="248716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6B4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776472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4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4005072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"Give me the strongest objection each panelist would raise against this design."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115568"/>
            <a:ext cx="2651760" cy="3749040"/>
          </a:xfrm>
          <a:prstGeom prst="rect">
            <a:avLst/>
          </a:prstGeom>
          <a:solidFill>
            <a:srgbClr val="F8EBF0"/>
          </a:solidFill>
          <a:ln w="19050">
            <a:solidFill>
              <a:srgbClr val="A84F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15568"/>
            <a:ext cx="2651760" cy="475488"/>
          </a:xfrm>
          <a:prstGeom prst="rect">
            <a:avLst/>
          </a:prstGeom>
          <a:solidFill>
            <a:srgbClr val="A84F6B"/>
          </a:solidFill>
          <a:ln w="12700">
            <a:solidFill>
              <a:srgbClr val="A84F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152144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⚔️  Ruthless Prompts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1682496"/>
            <a:ext cx="24505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AI to critique its own work at maximum severity. Forbid praise. Demand identification of what is fragile, wrong, or missing.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721608"/>
            <a:ext cx="248716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A84F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3776472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4005072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"Pretend you are this work's harshest reviewer. What would you reject it for? List every assumption that could prove wrong."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0760" y="1115568"/>
            <a:ext cx="2651760" cy="3749040"/>
          </a:xfrm>
          <a:prstGeom prst="rect">
            <a:avLst/>
          </a:prstGeom>
          <a:solidFill>
            <a:srgbClr val="EBF2F8"/>
          </a:solidFill>
          <a:ln w="19050">
            <a:solidFill>
              <a:srgbClr val="3A6E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115568"/>
            <a:ext cx="2651760" cy="475488"/>
          </a:xfrm>
          <a:prstGeom prst="rect">
            <a:avLst/>
          </a:prstGeom>
          <a:solidFill>
            <a:srgbClr val="3A6EA8"/>
          </a:solidFill>
          <a:ln w="12700">
            <a:solidFill>
              <a:srgbClr val="3A6E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1152144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 Wholesale Critique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90488" y="1682496"/>
            <a:ext cx="24505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Periodically step back and ask for a complete strengths-and-weaknesses analysis of an entire subsystem — not just the last task.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"Evaluate the evidence pipeline. Five greatest strengths and five greatest risks?"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3721608"/>
            <a:ext cx="248716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3A6E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3776472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6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63640" y="4005072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2D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you were inheriting this codebase, what would worry you most?"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A5E50"/>
                </a:solidFill>
              </a:rPr>
              <a:t>These moves can be composed: ask the panel to give ruthless critiques of the subsystem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D3A"/>
          </a:solidFill>
          <a:ln w="12700">
            <a:solidFill>
              <a:srgbClr val="1C3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is not optional — build agents to enforce the standards AI alone will not maintain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2834640" cy="3794760"/>
          </a:xfrm>
          <a:prstGeom prst="rect">
            <a:avLst/>
          </a:prstGeom>
          <a:solidFill>
            <a:srgbClr val="FDE8D8"/>
          </a:solidFill>
          <a:ln w="19050">
            <a:solidFill>
              <a:srgbClr val="C96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15568"/>
            <a:ext cx="2834640" cy="411480"/>
          </a:xfrm>
          <a:prstGeom prst="rect">
            <a:avLst/>
          </a:prstGeom>
          <a:solidFill>
            <a:srgbClr val="C96020"/>
          </a:solidFill>
          <a:ln w="12700">
            <a:solidFill>
              <a:srgbClr val="C96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6128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Governance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709928"/>
            <a:ext cx="137160" cy="137160"/>
          </a:xfrm>
          <a:prstGeom prst="rect">
            <a:avLst/>
          </a:prstGeom>
          <a:solidFill>
            <a:srgbClr val="C96020"/>
          </a:solidFill>
          <a:ln w="12700">
            <a:solidFill>
              <a:srgbClr val="C96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66420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1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change behavior silently across versions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322576"/>
            <a:ext cx="137160" cy="137160"/>
          </a:xfrm>
          <a:prstGeom prst="rect">
            <a:avLst/>
          </a:prstGeom>
          <a:solidFill>
            <a:srgbClr val="C96020"/>
          </a:solidFill>
          <a:ln w="12700">
            <a:solidFill>
              <a:srgbClr val="C96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27685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1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files pile up — live vs. obsolete unclear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935224"/>
            <a:ext cx="137160" cy="137160"/>
          </a:xfrm>
          <a:prstGeom prst="rect">
            <a:avLst/>
          </a:prstGeom>
          <a:solidFill>
            <a:srgbClr val="C96020"/>
          </a:solidFill>
          <a:ln w="12700">
            <a:solidFill>
              <a:srgbClr val="C96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88950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1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quality drifts without anyone noticing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547872"/>
            <a:ext cx="137160" cy="137160"/>
          </a:xfrm>
          <a:prstGeom prst="rect">
            <a:avLst/>
          </a:prstGeom>
          <a:solidFill>
            <a:srgbClr val="C96020"/>
          </a:solidFill>
          <a:ln w="12700">
            <a:solidFill>
              <a:srgbClr val="C96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50215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1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style inconsistent across documents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160520"/>
            <a:ext cx="137160" cy="137160"/>
          </a:xfrm>
          <a:prstGeom prst="rect">
            <a:avLst/>
          </a:prstGeom>
          <a:solidFill>
            <a:srgbClr val="C96020"/>
          </a:solidFill>
          <a:ln w="12700">
            <a:solidFill>
              <a:srgbClr val="C96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1148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1A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decisions unmotivated by any UX theory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66160" y="1115568"/>
            <a:ext cx="5193792" cy="3794760"/>
          </a:xfrm>
          <a:prstGeom prst="rect">
            <a:avLst/>
          </a:prstGeom>
          <a:solidFill>
            <a:srgbClr val="E0F2EC"/>
          </a:solidFill>
          <a:ln w="19050">
            <a:solidFill>
              <a:srgbClr val="2A78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6160" y="1115568"/>
            <a:ext cx="5193792" cy="411480"/>
          </a:xfrm>
          <a:prstGeom prst="rect">
            <a:avLst/>
          </a:prstGeom>
          <a:solidFill>
            <a:srgbClr val="2A7868"/>
          </a:solidFill>
          <a:ln w="12700">
            <a:solidFill>
              <a:srgbClr val="2A78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11612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Built to Enforce Governance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03320" y="1719072"/>
            <a:ext cx="54864" cy="457200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31336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Monotonicity: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31336" y="19385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3D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may not silently change their type contract between versions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03320" y="2377440"/>
            <a:ext cx="54864" cy="457200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31336" y="2322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Protocol: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31336" y="2596896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3D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Obsolete files move to /not-in-use/ — nothing deleted, everything traceable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703320" y="3035808"/>
            <a:ext cx="54864" cy="457200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31336" y="2980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Writer Agent: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31336" y="325526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3D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extended prose reviewed against 12 science-communication norms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703320" y="3694176"/>
            <a:ext cx="54864" cy="457200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31336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Design Agent v3: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31336" y="3913632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3D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32-item dual-framework spec; 13-scholar expert panel judgment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03320" y="4352544"/>
            <a:ext cx="54864" cy="457200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31336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Critic Agent: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31336" y="4572000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3D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35-dimension in-browser audit (Nielsen + Shneiderman + Viz V1–V17)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A5E50"/>
                </a:solidFill>
              </a:rPr>
              <a:t>Governance infrastructure is built once and pays compound dividends across every subsequent session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dirty="0">
                <a:solidFill>
                  <a:srgbClr val="E88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regularly use AI to learn — and to help me develop ideas I have about functionality.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2423160"/>
            <a:ext cx="4206240" cy="1353312"/>
          </a:xfrm>
          <a:prstGeom prst="rect">
            <a:avLst/>
          </a:prstGeom>
          <a:solidFill>
            <a:srgbClr val="132A28"/>
          </a:solidFill>
          <a:ln w="12700">
            <a:solidFill>
              <a:srgbClr val="2A78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2423160"/>
            <a:ext cx="73152" cy="1353312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25146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learn a new domain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76072" y="2843784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i="1" dirty="0">
                <a:solidFill>
                  <a:srgbClr val="A8C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"Explain Bayesian belief revision to a cognitive scientist. Show how it connects to evidence weight in our pipeline."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92040" y="2423160"/>
            <a:ext cx="4206240" cy="1353312"/>
          </a:xfrm>
          <a:prstGeom prst="rect">
            <a:avLst/>
          </a:prstGeom>
          <a:solidFill>
            <a:srgbClr val="132A28"/>
          </a:solidFill>
          <a:ln w="12700">
            <a:solidFill>
              <a:srgbClr val="2A78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2423160"/>
            <a:ext cx="73152" cy="1353312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56632" y="25146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pressure-test an idea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56632" y="2843784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i="1" dirty="0">
                <a:solidFill>
                  <a:srgbClr val="A8C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have an intuition that coherence and epistemic weight should be separable. Who would disagree and why?"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3776472"/>
            <a:ext cx="4206240" cy="1353312"/>
          </a:xfrm>
          <a:prstGeom prst="rect">
            <a:avLst/>
          </a:prstGeom>
          <a:solidFill>
            <a:srgbClr val="132A28"/>
          </a:solidFill>
          <a:ln w="12700">
            <a:solidFill>
              <a:srgbClr val="2A78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3776472"/>
            <a:ext cx="73152" cy="1353312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86791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spec new functionality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76072" y="4197096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i="1" dirty="0">
                <a:solidFill>
                  <a:srgbClr val="A8C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want a usability critique tool in the browser. How would you design it? What heuristic frameworks would you include?"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92040" y="3776472"/>
            <a:ext cx="4206240" cy="1353312"/>
          </a:xfrm>
          <a:prstGeom prst="rect">
            <a:avLst/>
          </a:prstGeom>
          <a:solidFill>
            <a:srgbClr val="132A28"/>
          </a:solidFill>
          <a:ln w="12700">
            <a:solidFill>
              <a:srgbClr val="2A78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3776472"/>
            <a:ext cx="73152" cy="1353312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56632" y="386791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8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understand your own system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56632" y="4197096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i="1" dirty="0">
                <a:solidFill>
                  <a:srgbClr val="A8C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"Explain back to me how the warrant pipeline works. Where are the fragile assumptions?"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D3A"/>
          </a:solidFill>
          <a:ln w="12700">
            <a:solidFill>
              <a:srgbClr val="1C3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 curriculum of COGS 160: learning to direct AI to build what you need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" y="1143000"/>
            <a:ext cx="41605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C3D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143000"/>
            <a:ext cx="4160520" cy="402336"/>
          </a:xfrm>
          <a:prstGeom prst="rect">
            <a:avLst/>
          </a:prstGeom>
          <a:solidFill>
            <a:srgbClr val="1C3D3A"/>
          </a:solidFill>
          <a:ln w="12700">
            <a:solidFill>
              <a:srgbClr val="1C3D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— Image Tagging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63677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33272" y="1636776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images manually + learn tag schema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39112"/>
            <a:ext cx="3941064" cy="27432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21408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41832" y="2121408"/>
            <a:ext cx="3447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to propose tag vocabularies, spot ambiguous cases, validate inter-rater reliability, and draft the tagging protocol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82312" y="1143000"/>
            <a:ext cx="41605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C3D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82312" y="1143000"/>
            <a:ext cx="4160520" cy="402336"/>
          </a:xfrm>
          <a:prstGeom prst="rect">
            <a:avLst/>
          </a:prstGeom>
          <a:solidFill>
            <a:srgbClr val="1C3D3A"/>
          </a:solidFill>
          <a:ln w="12700">
            <a:solidFill>
              <a:srgbClr val="1C3D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2070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2 — Article Finder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92040" y="163677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68112" y="1636776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Boolean + NL queries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2039112"/>
            <a:ext cx="3941064" cy="27432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121408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76672" y="2121408"/>
            <a:ext cx="3447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to improve query formulation, expand coverage iteratively, critique inclusion decisions, and synthesize the corpus into structured claims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3108960"/>
            <a:ext cx="41605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C3D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108960"/>
            <a:ext cx="4160520" cy="402336"/>
          </a:xfrm>
          <a:prstGeom prst="rect">
            <a:avLst/>
          </a:prstGeom>
          <a:solidFill>
            <a:srgbClr val="1C3D3A"/>
          </a:solidFill>
          <a:ln w="12700">
            <a:solidFill>
              <a:srgbClr val="1C3D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729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3 — VR Production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360273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33272" y="3602736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VR paradigm from a specification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05072"/>
            <a:ext cx="3941064" cy="27432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087368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41832" y="4087368"/>
            <a:ext cx="3447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to survey ART / SRT / embodiment theory, propose paradigm variants, validate the design against ecological validity criteria, generate A-Frame code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82312" y="3108960"/>
            <a:ext cx="41605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C3D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82312" y="3108960"/>
            <a:ext cx="4160520" cy="402336"/>
          </a:xfrm>
          <a:prstGeom prst="rect">
            <a:avLst/>
          </a:prstGeom>
          <a:solidFill>
            <a:srgbClr val="1C3D3A"/>
          </a:solidFill>
          <a:ln w="12700">
            <a:solidFill>
              <a:srgbClr val="1C3D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1729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4 — GUI Evaluation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892040" y="360273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68112" y="3602736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5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through KA and note friction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92040" y="4005072"/>
            <a:ext cx="3941064" cy="27432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4087368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76672" y="4087368"/>
            <a:ext cx="3447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AI to run the 35-dimension usability audit, simulate 8 expert critics, propose adaptive help architectures, and specify the Fall 2026 improvement list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A5E50"/>
                </a:solidFill>
              </a:rPr>
              <a:t>The assignment is not what you produce — it is how you learned to direct an AI to produce it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D3A"/>
          </a:solidFill>
          <a:ln w="12700">
            <a:solidFill>
              <a:srgbClr val="1C3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master document is your long-term epistemic memory — it outlives every chat session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3749040" cy="3566160"/>
          </a:xfrm>
          <a:prstGeom prst="rect">
            <a:avLst/>
          </a:prstGeom>
          <a:solidFill>
            <a:srgbClr val="FDE8D8"/>
          </a:solidFill>
          <a:ln w="19050">
            <a:solidFill>
              <a:srgbClr val="C96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6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With Chat Sessions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792224"/>
            <a:ext cx="182880" cy="182880"/>
          </a:xfrm>
          <a:prstGeom prst="ellipse">
            <a:avLst/>
          </a:prstGeom>
          <a:solidFill>
            <a:srgbClr val="C96020"/>
          </a:solidFill>
          <a:ln w="12700">
            <a:solidFill>
              <a:srgbClr val="C96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6479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session starts cold — no memory of prior reasoning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359152"/>
            <a:ext cx="182880" cy="182880"/>
          </a:xfrm>
          <a:prstGeom prst="ellipse">
            <a:avLst/>
          </a:prstGeom>
          <a:solidFill>
            <a:srgbClr val="C96020"/>
          </a:solidFill>
          <a:ln w="12700">
            <a:solidFill>
              <a:srgbClr val="C96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3172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decisions exist only in chat logs no one re-reads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926080"/>
            <a:ext cx="182880" cy="182880"/>
          </a:xfrm>
          <a:prstGeom prst="ellipse">
            <a:avLst/>
          </a:prstGeom>
          <a:solidFill>
            <a:srgbClr val="C96020"/>
          </a:solidFill>
          <a:ln w="12700">
            <a:solidFill>
              <a:srgbClr val="C96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9864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 chose option A over B is lost within days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82880" cy="182880"/>
          </a:xfrm>
          <a:prstGeom prst="ellipse">
            <a:avLst/>
          </a:prstGeom>
          <a:solidFill>
            <a:srgbClr val="C96020"/>
          </a:solidFill>
          <a:ln w="12700">
            <a:solidFill>
              <a:srgbClr val="C96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46557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Theories consulted during design vanish with the session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059936"/>
            <a:ext cx="182880" cy="182880"/>
          </a:xfrm>
          <a:prstGeom prst="ellipse">
            <a:avLst/>
          </a:prstGeom>
          <a:solidFill>
            <a:srgbClr val="C96020"/>
          </a:solidFill>
          <a:ln w="12700">
            <a:solidFill>
              <a:srgbClr val="C96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3250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2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collaborators (including future AI workers) have nothing to orient from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1188720"/>
            <a:ext cx="3749040" cy="3566160"/>
          </a:xfrm>
          <a:prstGeom prst="rect">
            <a:avLst/>
          </a:prstGeom>
          <a:solidFill>
            <a:srgbClr val="E0F2EC"/>
          </a:solidFill>
          <a:ln w="19050">
            <a:solidFill>
              <a:srgbClr val="2A78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6636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Master Doc Contains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38928" y="1792224"/>
            <a:ext cx="54864" cy="347472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7922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decisions: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57800" y="19751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decided and why — including roads not taken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38928" y="2359152"/>
            <a:ext cx="54864" cy="347472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23591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theories: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25420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scientific foundations behind each architectural choice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38928" y="2926080"/>
            <a:ext cx="54864" cy="347472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29260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revisions: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3108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subsystems evolved, what triggered each change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38928" y="3493008"/>
            <a:ext cx="54864" cy="347472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34930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Essay summaries: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57800" y="36758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Précis of documents being written on the system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38928" y="4059936"/>
            <a:ext cx="54864" cy="347472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405993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Cross-references: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42428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C3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→ code file → test → contract: the traceability web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A5E50"/>
                </a:solidFill>
              </a:rPr>
              <a:t>The master doc is not a chat log — it is the canonical architecture for everything the system knows, why it works, and how it was built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A7868"/>
          </a:solidFill>
          <a:ln w="12700">
            <a:solidFill>
              <a:srgbClr val="2A78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Seven Moves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1645920" cy="45720"/>
          </a:xfrm>
          <a:prstGeom prst="rect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53312"/>
            <a:ext cx="237744" cy="237744"/>
          </a:xfrm>
          <a:prstGeom prst="ellipse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62456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Formulate precisely before you prompt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65376"/>
            <a:ext cx="237744" cy="237744"/>
          </a:xfrm>
          <a:prstGeom prst="ellipse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7452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88366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theory before you implement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237744" cy="237744"/>
          </a:xfrm>
          <a:prstGeom prst="ellipse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86584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39572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everything AI produces — be the director, not the passenger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889504"/>
            <a:ext cx="237744" cy="237744"/>
          </a:xfrm>
          <a:prstGeom prst="ellipse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98648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9077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systematically: ask AI how, then verify yourself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401568"/>
            <a:ext cx="237744" cy="237744"/>
          </a:xfrm>
          <a:prstGeom prst="ellipse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41071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41985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and harden every artifact before moving 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913632"/>
            <a:ext cx="237744" cy="237744"/>
          </a:xfrm>
          <a:prstGeom prst="ellipse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922776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9319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governance agents to enforce what you cannot police manually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425696"/>
            <a:ext cx="237744" cy="237744"/>
          </a:xfrm>
          <a:prstGeom prst="ellipse">
            <a:avLst/>
          </a:prstGeom>
          <a:solidFill>
            <a:srgbClr val="E8872A"/>
          </a:solidFill>
          <a:ln w="12700">
            <a:solidFill>
              <a:srgbClr val="E88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4348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444398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to learn and to develop ideas — not just to produce output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Atlas · COGS 160 · UCSD Cognitive Science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With AI: A Research Workflow</dc:title>
  <dc:subject>PptxGenJS Presentation</dc:subject>
  <dc:creator>David Kirsh</dc:creator>
  <cp:lastModifiedBy>David Kirsh</cp:lastModifiedBy>
  <cp:revision>1</cp:revision>
  <dcterms:created xsi:type="dcterms:W3CDTF">2026-03-29T22:29:58Z</dcterms:created>
  <dcterms:modified xsi:type="dcterms:W3CDTF">2026-03-29T22:29:58Z</dcterms:modified>
</cp:coreProperties>
</file>